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82" r:id="rId3"/>
    <p:sldId id="277" r:id="rId4"/>
    <p:sldId id="283" r:id="rId5"/>
    <p:sldId id="279" r:id="rId6"/>
    <p:sldId id="280" r:id="rId7"/>
    <p:sldId id="281" r:id="rId8"/>
    <p:sldId id="28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DB7B8-8DFF-4674-9B53-9565D9C1515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2BF03-B339-4E48-8C99-55C0A0134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452AC-4C50-1B7A-23B9-B0F783A5D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3F7505-B6B1-408D-F7B5-73EA55CAC482}"/>
              </a:ext>
            </a:extLst>
          </p:cNvPr>
          <p:cNvSpPr txBox="1"/>
          <p:nvPr/>
        </p:nvSpPr>
        <p:spPr>
          <a:xfrm>
            <a:off x="137160" y="118640"/>
            <a:ext cx="10917936" cy="500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What is Credit Risk?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Risk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risk that a borrower will fail to repay a loan, causing a financial loss to the lender.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of Default (PD)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likelihood, expressed as a percentage, that a borrower will fail to meet their repayment obligation within a given time period.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Given Default (LGD)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percentage of the total exposure the lender actually loses after the borrower defaults, accounting for any recovery through collateral or collections.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Exposure at Default (EAD)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total outstanding amount the lender is owed at the moment the borrower defaults.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F66EC-45D0-E006-1137-02572B7DB8BE}"/>
              </a:ext>
            </a:extLst>
          </p:cNvPr>
          <p:cNvSpPr txBox="1"/>
          <p:nvPr/>
        </p:nvSpPr>
        <p:spPr>
          <a:xfrm>
            <a:off x="2025396" y="5218759"/>
            <a:ext cx="81412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Loss = PD × LGD × EAD</a:t>
            </a:r>
          </a:p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borrower can have high PD, but if EAD and LGD are small, the actual loss is manageable — this is why banks look at all three together, never in isolation.</a:t>
            </a:r>
          </a:p>
        </p:txBody>
      </p:sp>
    </p:spTree>
    <p:extLst>
      <p:ext uri="{BB962C8B-B14F-4D97-AF65-F5344CB8AC3E}">
        <p14:creationId xmlns:p14="http://schemas.microsoft.com/office/powerpoint/2010/main" val="1551410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9D01-DFE5-FC2A-1748-3D5847C51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7ACC10-DA3C-0D6C-9579-5D5E81A117F1}"/>
              </a:ext>
            </a:extLst>
          </p:cNvPr>
          <p:cNvSpPr txBox="1"/>
          <p:nvPr/>
        </p:nvSpPr>
        <p:spPr>
          <a:xfrm>
            <a:off x="530352" y="613193"/>
            <a:ext cx="10369296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Key Takeaways in Modelling: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 Explainability is Crucial: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Models must be able to justify why a loan was rejected (regulatory compliance).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 Balancing Risk &amp; Reward: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Risk analytics aims to maximize profitability, not just eliminate risk.</a:t>
            </a:r>
          </a:p>
          <a:p>
            <a:pPr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24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 Data Quality Matters: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 "Garbage in, garbage out" applies heavily to credit scoring.</a:t>
            </a:r>
          </a:p>
        </p:txBody>
      </p:sp>
    </p:spTree>
    <p:extLst>
      <p:ext uri="{BB962C8B-B14F-4D97-AF65-F5344CB8AC3E}">
        <p14:creationId xmlns:p14="http://schemas.microsoft.com/office/powerpoint/2010/main" val="3999590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C86EF-312E-8835-7A0F-E7A4DE99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3A4C72-2289-2716-06A6-6D906A18706D}"/>
              </a:ext>
            </a:extLst>
          </p:cNvPr>
          <p:cNvSpPr txBox="1"/>
          <p:nvPr/>
        </p:nvSpPr>
        <p:spPr>
          <a:xfrm>
            <a:off x="196596" y="353491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🧩 Topics: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📌 What is a Credit Score?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between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300 – 900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by banks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C947B-4F9E-3870-34DB-5CD76FA780F5}"/>
              </a:ext>
            </a:extLst>
          </p:cNvPr>
          <p:cNvSpPr txBox="1"/>
          <p:nvPr/>
        </p:nvSpPr>
        <p:spPr>
          <a:xfrm>
            <a:off x="1202436" y="2536228"/>
            <a:ext cx="43479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🏦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750+ → Safe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600–750 → Moderate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&lt;600 → Risky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564DA-DBA2-15C4-5636-54694B49183E}"/>
              </a:ext>
            </a:extLst>
          </p:cNvPr>
          <p:cNvSpPr txBox="1"/>
          <p:nvPr/>
        </p:nvSpPr>
        <p:spPr>
          <a:xfrm>
            <a:off x="573024" y="4718965"/>
            <a:ext cx="41925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📊 Factors affecting score: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Loan history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 delays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utilization </a:t>
            </a:r>
          </a:p>
        </p:txBody>
      </p:sp>
    </p:spTree>
    <p:extLst>
      <p:ext uri="{BB962C8B-B14F-4D97-AF65-F5344CB8AC3E}">
        <p14:creationId xmlns:p14="http://schemas.microsoft.com/office/powerpoint/2010/main" val="953904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3C92A-50A4-EC66-3428-62E7AF2F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F1148A-A434-9B75-68A8-620984B6A36F}"/>
              </a:ext>
            </a:extLst>
          </p:cNvPr>
          <p:cNvSpPr txBox="1"/>
          <p:nvPr/>
        </p:nvSpPr>
        <p:spPr>
          <a:xfrm>
            <a:off x="41148" y="130016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ML Perspective: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score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Problem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Output: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customer (0)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customer (1)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F7FD1-0A66-736D-58C2-832AC31B1984}"/>
              </a:ext>
            </a:extLst>
          </p:cNvPr>
          <p:cNvSpPr txBox="1"/>
          <p:nvPr/>
        </p:nvSpPr>
        <p:spPr>
          <a:xfrm>
            <a:off x="443484" y="2775311"/>
            <a:ext cx="2692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Mapping to ML: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F963296-F646-8F50-EB17-6312BDEDC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685872"/>
              </p:ext>
            </p:extLst>
          </p:nvPr>
        </p:nvGraphicFramePr>
        <p:xfrm>
          <a:off x="388620" y="3573947"/>
          <a:ext cx="10428732" cy="1828800"/>
        </p:xfrm>
        <a:graphic>
          <a:graphicData uri="http://schemas.openxmlformats.org/drawingml/2006/table">
            <a:tbl>
              <a:tblPr/>
              <a:tblGrid>
                <a:gridCol w="6268212">
                  <a:extLst>
                    <a:ext uri="{9D8B030D-6E8A-4147-A177-3AD203B41FA5}">
                      <a16:colId xmlns:a16="http://schemas.microsoft.com/office/drawing/2014/main" val="4147875906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1352844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Banking 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ML 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71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Target Variable -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5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Customer Data – Age, Income, Education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6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Risk Score – 240 out of 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Prediction -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07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204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9E39-BF21-5D75-84B4-CB94D2793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E7B51E-2718-797B-4AA0-8D23E41A3C5D}"/>
              </a:ext>
            </a:extLst>
          </p:cNvPr>
          <p:cNvSpPr txBox="1"/>
          <p:nvPr/>
        </p:nvSpPr>
        <p:spPr>
          <a:xfrm>
            <a:off x="41148" y="130016"/>
            <a:ext cx="4238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Raw Data – Not normalized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9192D-56F1-BA0E-26F3-4D26AF06D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" y="591681"/>
            <a:ext cx="8924829" cy="20306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C474A0-F496-22C4-F02A-ABB74F95876F}"/>
              </a:ext>
            </a:extLst>
          </p:cNvPr>
          <p:cNvSpPr txBox="1"/>
          <p:nvPr/>
        </p:nvSpPr>
        <p:spPr>
          <a:xfrm>
            <a:off x="0" y="3083968"/>
            <a:ext cx="3543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Normalized Data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83FCDB-A095-4596-A35D-4D4A9AF5A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31" y="3675889"/>
            <a:ext cx="8127399" cy="31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14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B718-2423-FE46-DA13-1D85FD33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03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53835-EDAC-852A-1AAF-8F20B542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759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708</TotalTime>
  <Words>321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146</cp:revision>
  <dcterms:created xsi:type="dcterms:W3CDTF">2025-09-22T02:44:38Z</dcterms:created>
  <dcterms:modified xsi:type="dcterms:W3CDTF">2026-06-02T07:58:58Z</dcterms:modified>
</cp:coreProperties>
</file>