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76" r:id="rId2"/>
    <p:sldId id="257" r:id="rId3"/>
    <p:sldId id="275" r:id="rId4"/>
    <p:sldId id="277" r:id="rId5"/>
    <p:sldId id="278" r:id="rId6"/>
    <p:sldId id="279" r:id="rId7"/>
    <p:sldId id="28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A25C32-8F1E-47A8-A191-8A43E2B06FE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7A101F-BE0F-48B7-ACCB-00AC5B501C7C}">
      <dgm:prSet phldrT="[Text]"/>
      <dgm:spPr/>
      <dgm:t>
        <a:bodyPr/>
        <a:lstStyle/>
        <a:p>
          <a:pPr>
            <a:buNone/>
          </a:pPr>
          <a:r>
            <a:rPr lang="en-US" dirty="0"/>
            <a:t>[ SHAP Analysis ]</a:t>
          </a:r>
        </a:p>
        <a:p>
          <a:pPr>
            <a:buNone/>
          </a:pPr>
          <a:r>
            <a:rPr lang="en-US" dirty="0"/>
            <a:t>"Looks at the whole picture" </a:t>
          </a:r>
        </a:p>
        <a:p>
          <a:pPr>
            <a:buNone/>
          </a:pPr>
          <a:r>
            <a:rPr lang="en-US" dirty="0"/>
            <a:t>- Base Risk:   2% </a:t>
          </a:r>
        </a:p>
        <a:p>
          <a:pPr>
            <a:buNone/>
          </a:pPr>
          <a:r>
            <a:rPr lang="en-US" dirty="0"/>
            <a:t>- Location   +30% 📍 </a:t>
          </a:r>
        </a:p>
        <a:p>
          <a:pPr>
            <a:buNone/>
          </a:pPr>
          <a:r>
            <a:rPr lang="en-US" dirty="0"/>
            <a:t>- Amount   +40% 💰 </a:t>
          </a:r>
        </a:p>
        <a:p>
          <a:pPr>
            <a:buNone/>
          </a:pPr>
          <a:r>
            <a:rPr lang="en-US" dirty="0"/>
            <a:t>- Age    -10% ⏳</a:t>
          </a:r>
        </a:p>
        <a:p>
          <a:pPr>
            <a:buNone/>
          </a:pPr>
          <a:r>
            <a:rPr lang="en-US" dirty="0"/>
            <a:t>Result: 62% Fraud Risk</a:t>
          </a:r>
        </a:p>
      </dgm:t>
    </dgm:pt>
    <dgm:pt modelId="{92A7475C-833F-4DC7-A117-E8008AF17AAE}" type="parTrans" cxnId="{B3DF9BA5-9367-483B-8E13-693111FAC378}">
      <dgm:prSet/>
      <dgm:spPr/>
      <dgm:t>
        <a:bodyPr/>
        <a:lstStyle/>
        <a:p>
          <a:endParaRPr lang="en-US"/>
        </a:p>
      </dgm:t>
    </dgm:pt>
    <dgm:pt modelId="{1ED88A20-CC4F-48BE-B030-E7CB4B54CA56}" type="sibTrans" cxnId="{B3DF9BA5-9367-483B-8E13-693111FAC378}">
      <dgm:prSet/>
      <dgm:spPr/>
      <dgm:t>
        <a:bodyPr/>
        <a:lstStyle/>
        <a:p>
          <a:endParaRPr lang="en-US"/>
        </a:p>
      </dgm:t>
    </dgm:pt>
    <dgm:pt modelId="{BEBF70BD-0542-43A8-859E-95666CB984D0}">
      <dgm:prSet phldrT="[Text]"/>
      <dgm:spPr/>
      <dgm:t>
        <a:bodyPr/>
        <a:lstStyle/>
        <a:p>
          <a:pPr>
            <a:buNone/>
          </a:pPr>
          <a:r>
            <a:rPr lang="en-US" dirty="0"/>
            <a:t>[ LIME Analysis ]</a:t>
          </a:r>
        </a:p>
        <a:p>
          <a:pPr>
            <a:buNone/>
          </a:pPr>
          <a:r>
            <a:rPr lang="en-US" dirty="0"/>
            <a:t>"Looks at this specific moment“</a:t>
          </a:r>
        </a:p>
        <a:p>
          <a:pPr>
            <a:buNone/>
          </a:pPr>
          <a:r>
            <a:rPr lang="en-US" dirty="0"/>
            <a:t>- Creates fake similar transactions</a:t>
          </a:r>
        </a:p>
        <a:p>
          <a:pPr>
            <a:buNone/>
          </a:pPr>
          <a:r>
            <a:rPr lang="en-US" dirty="0"/>
            <a:t>- Changes amount, time, and device</a:t>
          </a:r>
        </a:p>
        <a:p>
          <a:pPr>
            <a:buNone/>
          </a:pPr>
          <a:r>
            <a:rPr lang="en-US" dirty="0"/>
            <a:t>- Sees which change drops the fraud alert</a:t>
          </a:r>
        </a:p>
        <a:p>
          <a:pPr>
            <a:buNone/>
          </a:pPr>
          <a:r>
            <a:rPr lang="en-US" dirty="0"/>
            <a:t>- Pinpoints the exact trigger for *this* case</a:t>
          </a:r>
        </a:p>
      </dgm:t>
    </dgm:pt>
    <dgm:pt modelId="{65813A37-AE43-4BFE-9ADE-13B9E68FB1AE}" type="parTrans" cxnId="{62133914-9380-4727-B67C-34C95DC10C24}">
      <dgm:prSet/>
      <dgm:spPr/>
      <dgm:t>
        <a:bodyPr/>
        <a:lstStyle/>
        <a:p>
          <a:endParaRPr lang="en-US"/>
        </a:p>
      </dgm:t>
    </dgm:pt>
    <dgm:pt modelId="{1AD72F97-5A47-4762-B4F0-544A2C7DA9B0}" type="sibTrans" cxnId="{62133914-9380-4727-B67C-34C95DC10C24}">
      <dgm:prSet/>
      <dgm:spPr/>
      <dgm:t>
        <a:bodyPr/>
        <a:lstStyle/>
        <a:p>
          <a:endParaRPr lang="en-US"/>
        </a:p>
      </dgm:t>
    </dgm:pt>
    <dgm:pt modelId="{031117FF-0588-406A-9655-F2867F7EA4D7}">
      <dgm:prSet phldrT="[Text]" phldr="0"/>
      <dgm:spPr/>
      <dgm:t>
        <a:bodyPr/>
        <a:lstStyle/>
        <a:p>
          <a:r>
            <a:rPr lang="en-US" dirty="0"/>
            <a:t>AI Model</a:t>
          </a:r>
        </a:p>
      </dgm:t>
    </dgm:pt>
    <dgm:pt modelId="{F0A5CCFB-63B1-4386-A93B-775105FC2DBD}" type="sibTrans" cxnId="{9ED21A3C-4104-427D-A42E-39BDBBB8D808}">
      <dgm:prSet/>
      <dgm:spPr/>
      <dgm:t>
        <a:bodyPr/>
        <a:lstStyle/>
        <a:p>
          <a:endParaRPr lang="en-US"/>
        </a:p>
      </dgm:t>
    </dgm:pt>
    <dgm:pt modelId="{F29196D7-1832-4180-A971-65A52508759A}" type="parTrans" cxnId="{9ED21A3C-4104-427D-A42E-39BDBBB8D808}">
      <dgm:prSet/>
      <dgm:spPr/>
      <dgm:t>
        <a:bodyPr/>
        <a:lstStyle/>
        <a:p>
          <a:endParaRPr lang="en-US"/>
        </a:p>
      </dgm:t>
    </dgm:pt>
    <dgm:pt modelId="{D08625DF-57E3-48B5-88D4-D6979F0795D3}" type="pres">
      <dgm:prSet presAssocID="{48A25C32-8F1E-47A8-A191-8A43E2B06FE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64F18B4-5E1F-4B6E-8F10-FB92B21FC281}" type="pres">
      <dgm:prSet presAssocID="{031117FF-0588-406A-9655-F2867F7EA4D7}" presName="hierRoot1" presStyleCnt="0">
        <dgm:presLayoutVars>
          <dgm:hierBranch val="init"/>
        </dgm:presLayoutVars>
      </dgm:prSet>
      <dgm:spPr/>
    </dgm:pt>
    <dgm:pt modelId="{B20B18EE-611D-476A-8788-212CE303A6C1}" type="pres">
      <dgm:prSet presAssocID="{031117FF-0588-406A-9655-F2867F7EA4D7}" presName="rootComposite1" presStyleCnt="0"/>
      <dgm:spPr/>
    </dgm:pt>
    <dgm:pt modelId="{FB9FBBBF-C85F-42BA-A5E6-89D265A539FB}" type="pres">
      <dgm:prSet presAssocID="{031117FF-0588-406A-9655-F2867F7EA4D7}" presName="rootText1" presStyleLbl="node0" presStyleIdx="0" presStyleCnt="1" custScaleY="16793">
        <dgm:presLayoutVars>
          <dgm:chPref val="3"/>
        </dgm:presLayoutVars>
      </dgm:prSet>
      <dgm:spPr/>
    </dgm:pt>
    <dgm:pt modelId="{F19558AB-84BC-42B6-97E9-F31BEA7EAF61}" type="pres">
      <dgm:prSet presAssocID="{031117FF-0588-406A-9655-F2867F7EA4D7}" presName="rootConnector1" presStyleLbl="node1" presStyleIdx="0" presStyleCnt="0"/>
      <dgm:spPr/>
    </dgm:pt>
    <dgm:pt modelId="{DE864724-A7AF-48CE-945F-F5CD80919C71}" type="pres">
      <dgm:prSet presAssocID="{031117FF-0588-406A-9655-F2867F7EA4D7}" presName="hierChild2" presStyleCnt="0"/>
      <dgm:spPr/>
    </dgm:pt>
    <dgm:pt modelId="{086FD566-DFAA-48AA-B095-C3DC0E2DA47D}" type="pres">
      <dgm:prSet presAssocID="{92A7475C-833F-4DC7-A117-E8008AF17AAE}" presName="Name37" presStyleLbl="parChTrans1D2" presStyleIdx="0" presStyleCnt="2"/>
      <dgm:spPr/>
    </dgm:pt>
    <dgm:pt modelId="{0AF265EA-056E-44DC-93AF-CFBE49D61B49}" type="pres">
      <dgm:prSet presAssocID="{737A101F-BE0F-48B7-ACCB-00AC5B501C7C}" presName="hierRoot2" presStyleCnt="0">
        <dgm:presLayoutVars>
          <dgm:hierBranch val="init"/>
        </dgm:presLayoutVars>
      </dgm:prSet>
      <dgm:spPr/>
    </dgm:pt>
    <dgm:pt modelId="{E7403E20-E6AF-467E-8D1E-E5B8DEA8E2AA}" type="pres">
      <dgm:prSet presAssocID="{737A101F-BE0F-48B7-ACCB-00AC5B501C7C}" presName="rootComposite" presStyleCnt="0"/>
      <dgm:spPr/>
    </dgm:pt>
    <dgm:pt modelId="{C5E2C637-C1A7-4BC0-8C35-483883F1EA8A}" type="pres">
      <dgm:prSet presAssocID="{737A101F-BE0F-48B7-ACCB-00AC5B501C7C}" presName="rootText" presStyleLbl="node2" presStyleIdx="0" presStyleCnt="2" custScaleY="140309">
        <dgm:presLayoutVars>
          <dgm:chPref val="3"/>
        </dgm:presLayoutVars>
      </dgm:prSet>
      <dgm:spPr/>
    </dgm:pt>
    <dgm:pt modelId="{CACDBCCA-313C-4693-B831-7C789E38FB5E}" type="pres">
      <dgm:prSet presAssocID="{737A101F-BE0F-48B7-ACCB-00AC5B501C7C}" presName="rootConnector" presStyleLbl="node2" presStyleIdx="0" presStyleCnt="2"/>
      <dgm:spPr/>
    </dgm:pt>
    <dgm:pt modelId="{2C803B0F-8FB1-4968-91FB-748F392360AC}" type="pres">
      <dgm:prSet presAssocID="{737A101F-BE0F-48B7-ACCB-00AC5B501C7C}" presName="hierChild4" presStyleCnt="0"/>
      <dgm:spPr/>
    </dgm:pt>
    <dgm:pt modelId="{87CFD188-441F-451A-BD5D-12403BDC70C7}" type="pres">
      <dgm:prSet presAssocID="{737A101F-BE0F-48B7-ACCB-00AC5B501C7C}" presName="hierChild5" presStyleCnt="0"/>
      <dgm:spPr/>
    </dgm:pt>
    <dgm:pt modelId="{038320EF-3425-4FD2-B445-7D3C7739B72F}" type="pres">
      <dgm:prSet presAssocID="{65813A37-AE43-4BFE-9ADE-13B9E68FB1AE}" presName="Name37" presStyleLbl="parChTrans1D2" presStyleIdx="1" presStyleCnt="2"/>
      <dgm:spPr/>
    </dgm:pt>
    <dgm:pt modelId="{E10B1A08-2BB4-4FCA-83CE-FE1C3C70949E}" type="pres">
      <dgm:prSet presAssocID="{BEBF70BD-0542-43A8-859E-95666CB984D0}" presName="hierRoot2" presStyleCnt="0">
        <dgm:presLayoutVars>
          <dgm:hierBranch val="init"/>
        </dgm:presLayoutVars>
      </dgm:prSet>
      <dgm:spPr/>
    </dgm:pt>
    <dgm:pt modelId="{4F68AB7C-209E-43A1-933B-0AB0429D8B7C}" type="pres">
      <dgm:prSet presAssocID="{BEBF70BD-0542-43A8-859E-95666CB984D0}" presName="rootComposite" presStyleCnt="0"/>
      <dgm:spPr/>
    </dgm:pt>
    <dgm:pt modelId="{72449BA7-64B9-4A63-9707-24198262E061}" type="pres">
      <dgm:prSet presAssocID="{BEBF70BD-0542-43A8-859E-95666CB984D0}" presName="rootText" presStyleLbl="node2" presStyleIdx="1" presStyleCnt="2" custScaleX="110387" custScaleY="141304">
        <dgm:presLayoutVars>
          <dgm:chPref val="3"/>
        </dgm:presLayoutVars>
      </dgm:prSet>
      <dgm:spPr/>
    </dgm:pt>
    <dgm:pt modelId="{819D96C0-A024-410B-A42F-E0331CD720A0}" type="pres">
      <dgm:prSet presAssocID="{BEBF70BD-0542-43A8-859E-95666CB984D0}" presName="rootConnector" presStyleLbl="node2" presStyleIdx="1" presStyleCnt="2"/>
      <dgm:spPr/>
    </dgm:pt>
    <dgm:pt modelId="{98A8B24B-8EC9-44E6-B4A1-C684EAE9F6E8}" type="pres">
      <dgm:prSet presAssocID="{BEBF70BD-0542-43A8-859E-95666CB984D0}" presName="hierChild4" presStyleCnt="0"/>
      <dgm:spPr/>
    </dgm:pt>
    <dgm:pt modelId="{535C0D23-8726-4127-B2A6-C606DDD4C5A6}" type="pres">
      <dgm:prSet presAssocID="{BEBF70BD-0542-43A8-859E-95666CB984D0}" presName="hierChild5" presStyleCnt="0"/>
      <dgm:spPr/>
    </dgm:pt>
    <dgm:pt modelId="{2CF68690-82C2-48E5-85B4-A49A7BE4DAB9}" type="pres">
      <dgm:prSet presAssocID="{031117FF-0588-406A-9655-F2867F7EA4D7}" presName="hierChild3" presStyleCnt="0"/>
      <dgm:spPr/>
    </dgm:pt>
  </dgm:ptLst>
  <dgm:cxnLst>
    <dgm:cxn modelId="{62133914-9380-4727-B67C-34C95DC10C24}" srcId="{031117FF-0588-406A-9655-F2867F7EA4D7}" destId="{BEBF70BD-0542-43A8-859E-95666CB984D0}" srcOrd="1" destOrd="0" parTransId="{65813A37-AE43-4BFE-9ADE-13B9E68FB1AE}" sibTransId="{1AD72F97-5A47-4762-B4F0-544A2C7DA9B0}"/>
    <dgm:cxn modelId="{BA841C19-A98F-40E7-B749-2362F4E02EC5}" type="presOf" srcId="{48A25C32-8F1E-47A8-A191-8A43E2B06FE9}" destId="{D08625DF-57E3-48B5-88D4-D6979F0795D3}" srcOrd="0" destOrd="0" presId="urn:microsoft.com/office/officeart/2005/8/layout/orgChart1"/>
    <dgm:cxn modelId="{597F1938-7EF8-4D80-B855-D8B622181BBD}" type="presOf" srcId="{92A7475C-833F-4DC7-A117-E8008AF17AAE}" destId="{086FD566-DFAA-48AA-B095-C3DC0E2DA47D}" srcOrd="0" destOrd="0" presId="urn:microsoft.com/office/officeart/2005/8/layout/orgChart1"/>
    <dgm:cxn modelId="{9ED21A3C-4104-427D-A42E-39BDBBB8D808}" srcId="{48A25C32-8F1E-47A8-A191-8A43E2B06FE9}" destId="{031117FF-0588-406A-9655-F2867F7EA4D7}" srcOrd="0" destOrd="0" parTransId="{F29196D7-1832-4180-A971-65A52508759A}" sibTransId="{F0A5CCFB-63B1-4386-A93B-775105FC2DBD}"/>
    <dgm:cxn modelId="{D5E05D3E-8DCB-4F57-A7EF-11F7C06A2714}" type="presOf" srcId="{BEBF70BD-0542-43A8-859E-95666CB984D0}" destId="{72449BA7-64B9-4A63-9707-24198262E061}" srcOrd="0" destOrd="0" presId="urn:microsoft.com/office/officeart/2005/8/layout/orgChart1"/>
    <dgm:cxn modelId="{40603742-9C04-4FC4-A0DD-1F5548EC0602}" type="presOf" srcId="{737A101F-BE0F-48B7-ACCB-00AC5B501C7C}" destId="{CACDBCCA-313C-4693-B831-7C789E38FB5E}" srcOrd="1" destOrd="0" presId="urn:microsoft.com/office/officeart/2005/8/layout/orgChart1"/>
    <dgm:cxn modelId="{D786947E-0889-40AE-B381-26F56CA79C31}" type="presOf" srcId="{65813A37-AE43-4BFE-9ADE-13B9E68FB1AE}" destId="{038320EF-3425-4FD2-B445-7D3C7739B72F}" srcOrd="0" destOrd="0" presId="urn:microsoft.com/office/officeart/2005/8/layout/orgChart1"/>
    <dgm:cxn modelId="{A0305D9A-6FCC-414B-88AA-BA2249DA8F6C}" type="presOf" srcId="{031117FF-0588-406A-9655-F2867F7EA4D7}" destId="{F19558AB-84BC-42B6-97E9-F31BEA7EAF61}" srcOrd="1" destOrd="0" presId="urn:microsoft.com/office/officeart/2005/8/layout/orgChart1"/>
    <dgm:cxn modelId="{14CDE6A0-E193-419D-9DEA-EBD9CE907178}" type="presOf" srcId="{031117FF-0588-406A-9655-F2867F7EA4D7}" destId="{FB9FBBBF-C85F-42BA-A5E6-89D265A539FB}" srcOrd="0" destOrd="0" presId="urn:microsoft.com/office/officeart/2005/8/layout/orgChart1"/>
    <dgm:cxn modelId="{B3DF9BA5-9367-483B-8E13-693111FAC378}" srcId="{031117FF-0588-406A-9655-F2867F7EA4D7}" destId="{737A101F-BE0F-48B7-ACCB-00AC5B501C7C}" srcOrd="0" destOrd="0" parTransId="{92A7475C-833F-4DC7-A117-E8008AF17AAE}" sibTransId="{1ED88A20-CC4F-48BE-B030-E7CB4B54CA56}"/>
    <dgm:cxn modelId="{165021B5-9764-4B01-9B56-43632F92A9C3}" type="presOf" srcId="{737A101F-BE0F-48B7-ACCB-00AC5B501C7C}" destId="{C5E2C637-C1A7-4BC0-8C35-483883F1EA8A}" srcOrd="0" destOrd="0" presId="urn:microsoft.com/office/officeart/2005/8/layout/orgChart1"/>
    <dgm:cxn modelId="{5EA1B3F0-4752-4502-8C2B-2C511AA819A2}" type="presOf" srcId="{BEBF70BD-0542-43A8-859E-95666CB984D0}" destId="{819D96C0-A024-410B-A42F-E0331CD720A0}" srcOrd="1" destOrd="0" presId="urn:microsoft.com/office/officeart/2005/8/layout/orgChart1"/>
    <dgm:cxn modelId="{C23DC4CD-C8A9-4B09-93A4-C8FEC1A497F9}" type="presParOf" srcId="{D08625DF-57E3-48B5-88D4-D6979F0795D3}" destId="{264F18B4-5E1F-4B6E-8F10-FB92B21FC281}" srcOrd="0" destOrd="0" presId="urn:microsoft.com/office/officeart/2005/8/layout/orgChart1"/>
    <dgm:cxn modelId="{A73FDCD8-DF5D-41E2-9FD4-64DE8539618E}" type="presParOf" srcId="{264F18B4-5E1F-4B6E-8F10-FB92B21FC281}" destId="{B20B18EE-611D-476A-8788-212CE303A6C1}" srcOrd="0" destOrd="0" presId="urn:microsoft.com/office/officeart/2005/8/layout/orgChart1"/>
    <dgm:cxn modelId="{E4101F9B-52A4-4509-95DD-D672026E254A}" type="presParOf" srcId="{B20B18EE-611D-476A-8788-212CE303A6C1}" destId="{FB9FBBBF-C85F-42BA-A5E6-89D265A539FB}" srcOrd="0" destOrd="0" presId="urn:microsoft.com/office/officeart/2005/8/layout/orgChart1"/>
    <dgm:cxn modelId="{DE8C4C84-2E5E-4069-AA0E-916A912F5FD8}" type="presParOf" srcId="{B20B18EE-611D-476A-8788-212CE303A6C1}" destId="{F19558AB-84BC-42B6-97E9-F31BEA7EAF61}" srcOrd="1" destOrd="0" presId="urn:microsoft.com/office/officeart/2005/8/layout/orgChart1"/>
    <dgm:cxn modelId="{912D9AD3-43FC-4764-AE26-1FB69A7ABC44}" type="presParOf" srcId="{264F18B4-5E1F-4B6E-8F10-FB92B21FC281}" destId="{DE864724-A7AF-48CE-945F-F5CD80919C71}" srcOrd="1" destOrd="0" presId="urn:microsoft.com/office/officeart/2005/8/layout/orgChart1"/>
    <dgm:cxn modelId="{BC8C441F-F6EC-4576-A65E-98CF5BB35635}" type="presParOf" srcId="{DE864724-A7AF-48CE-945F-F5CD80919C71}" destId="{086FD566-DFAA-48AA-B095-C3DC0E2DA47D}" srcOrd="0" destOrd="0" presId="urn:microsoft.com/office/officeart/2005/8/layout/orgChart1"/>
    <dgm:cxn modelId="{9E9EF8AA-2664-45EE-9498-04781D95D1B8}" type="presParOf" srcId="{DE864724-A7AF-48CE-945F-F5CD80919C71}" destId="{0AF265EA-056E-44DC-93AF-CFBE49D61B49}" srcOrd="1" destOrd="0" presId="urn:microsoft.com/office/officeart/2005/8/layout/orgChart1"/>
    <dgm:cxn modelId="{3727BF00-DB07-4AAE-B243-EAA917DC0498}" type="presParOf" srcId="{0AF265EA-056E-44DC-93AF-CFBE49D61B49}" destId="{E7403E20-E6AF-467E-8D1E-E5B8DEA8E2AA}" srcOrd="0" destOrd="0" presId="urn:microsoft.com/office/officeart/2005/8/layout/orgChart1"/>
    <dgm:cxn modelId="{FE94F2D4-C143-490D-B5F6-EDD621CF7003}" type="presParOf" srcId="{E7403E20-E6AF-467E-8D1E-E5B8DEA8E2AA}" destId="{C5E2C637-C1A7-4BC0-8C35-483883F1EA8A}" srcOrd="0" destOrd="0" presId="urn:microsoft.com/office/officeart/2005/8/layout/orgChart1"/>
    <dgm:cxn modelId="{ADFF9523-F9F0-4EE1-854D-5079BE682361}" type="presParOf" srcId="{E7403E20-E6AF-467E-8D1E-E5B8DEA8E2AA}" destId="{CACDBCCA-313C-4693-B831-7C789E38FB5E}" srcOrd="1" destOrd="0" presId="urn:microsoft.com/office/officeart/2005/8/layout/orgChart1"/>
    <dgm:cxn modelId="{A2EF6AA8-FD5F-4249-BC54-C54153CCC9D0}" type="presParOf" srcId="{0AF265EA-056E-44DC-93AF-CFBE49D61B49}" destId="{2C803B0F-8FB1-4968-91FB-748F392360AC}" srcOrd="1" destOrd="0" presId="urn:microsoft.com/office/officeart/2005/8/layout/orgChart1"/>
    <dgm:cxn modelId="{60AFE31B-BDDB-470E-9499-12EF06914C38}" type="presParOf" srcId="{0AF265EA-056E-44DC-93AF-CFBE49D61B49}" destId="{87CFD188-441F-451A-BD5D-12403BDC70C7}" srcOrd="2" destOrd="0" presId="urn:microsoft.com/office/officeart/2005/8/layout/orgChart1"/>
    <dgm:cxn modelId="{B0E88B89-A0F5-4310-86AD-15D4AE842B65}" type="presParOf" srcId="{DE864724-A7AF-48CE-945F-F5CD80919C71}" destId="{038320EF-3425-4FD2-B445-7D3C7739B72F}" srcOrd="2" destOrd="0" presId="urn:microsoft.com/office/officeart/2005/8/layout/orgChart1"/>
    <dgm:cxn modelId="{03D46416-6BD0-4C6E-A751-B4EE7B4A9DFB}" type="presParOf" srcId="{DE864724-A7AF-48CE-945F-F5CD80919C71}" destId="{E10B1A08-2BB4-4FCA-83CE-FE1C3C70949E}" srcOrd="3" destOrd="0" presId="urn:microsoft.com/office/officeart/2005/8/layout/orgChart1"/>
    <dgm:cxn modelId="{CF797C3F-639C-465F-BBC6-7E5ED908DDED}" type="presParOf" srcId="{E10B1A08-2BB4-4FCA-83CE-FE1C3C70949E}" destId="{4F68AB7C-209E-43A1-933B-0AB0429D8B7C}" srcOrd="0" destOrd="0" presId="urn:microsoft.com/office/officeart/2005/8/layout/orgChart1"/>
    <dgm:cxn modelId="{27703167-7B35-445B-8BCB-00A4136D46EC}" type="presParOf" srcId="{4F68AB7C-209E-43A1-933B-0AB0429D8B7C}" destId="{72449BA7-64B9-4A63-9707-24198262E061}" srcOrd="0" destOrd="0" presId="urn:microsoft.com/office/officeart/2005/8/layout/orgChart1"/>
    <dgm:cxn modelId="{40B87750-73AB-438C-AEF7-815863409717}" type="presParOf" srcId="{4F68AB7C-209E-43A1-933B-0AB0429D8B7C}" destId="{819D96C0-A024-410B-A42F-E0331CD720A0}" srcOrd="1" destOrd="0" presId="urn:microsoft.com/office/officeart/2005/8/layout/orgChart1"/>
    <dgm:cxn modelId="{2223E866-3843-4025-8CAB-5DF4A71D8633}" type="presParOf" srcId="{E10B1A08-2BB4-4FCA-83CE-FE1C3C70949E}" destId="{98A8B24B-8EC9-44E6-B4A1-C684EAE9F6E8}" srcOrd="1" destOrd="0" presId="urn:microsoft.com/office/officeart/2005/8/layout/orgChart1"/>
    <dgm:cxn modelId="{A41A32DF-0B2D-431C-B502-FA787B1F46F6}" type="presParOf" srcId="{E10B1A08-2BB4-4FCA-83CE-FE1C3C70949E}" destId="{535C0D23-8726-4127-B2A6-C606DDD4C5A6}" srcOrd="2" destOrd="0" presId="urn:microsoft.com/office/officeart/2005/8/layout/orgChart1"/>
    <dgm:cxn modelId="{FF1447D0-A94A-46AB-B89D-D3EF48A44DCE}" type="presParOf" srcId="{264F18B4-5E1F-4B6E-8F10-FB92B21FC281}" destId="{2CF68690-82C2-48E5-85B4-A49A7BE4DAB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8320EF-3425-4FD2-B445-7D3C7739B72F}">
      <dsp:nvSpPr>
        <dsp:cNvPr id="0" name=""/>
        <dsp:cNvSpPr/>
      </dsp:nvSpPr>
      <dsp:spPr>
        <a:xfrm>
          <a:off x="5591556" y="697653"/>
          <a:ext cx="2923690" cy="10148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7417"/>
              </a:lnTo>
              <a:lnTo>
                <a:pt x="2923690" y="507417"/>
              </a:lnTo>
              <a:lnTo>
                <a:pt x="2923690" y="101483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6FD566-DFAA-48AA-B095-C3DC0E2DA47D}">
      <dsp:nvSpPr>
        <dsp:cNvPr id="0" name=""/>
        <dsp:cNvSpPr/>
      </dsp:nvSpPr>
      <dsp:spPr>
        <a:xfrm>
          <a:off x="2416887" y="697653"/>
          <a:ext cx="3174668" cy="1014834"/>
        </a:xfrm>
        <a:custGeom>
          <a:avLst/>
          <a:gdLst/>
          <a:ahLst/>
          <a:cxnLst/>
          <a:rect l="0" t="0" r="0" b="0"/>
          <a:pathLst>
            <a:path>
              <a:moveTo>
                <a:pt x="3174668" y="0"/>
              </a:moveTo>
              <a:lnTo>
                <a:pt x="3174668" y="507417"/>
              </a:lnTo>
              <a:lnTo>
                <a:pt x="0" y="507417"/>
              </a:lnTo>
              <a:lnTo>
                <a:pt x="0" y="101483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9FBBBF-C85F-42BA-A5E6-89D265A539FB}">
      <dsp:nvSpPr>
        <dsp:cNvPr id="0" name=""/>
        <dsp:cNvSpPr/>
      </dsp:nvSpPr>
      <dsp:spPr>
        <a:xfrm>
          <a:off x="3175283" y="291888"/>
          <a:ext cx="4832545" cy="4057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AI Model</a:t>
          </a:r>
        </a:p>
      </dsp:txBody>
      <dsp:txXfrm>
        <a:off x="3175283" y="291888"/>
        <a:ext cx="4832545" cy="405764"/>
      </dsp:txXfrm>
    </dsp:sp>
    <dsp:sp modelId="{C5E2C637-C1A7-4BC0-8C35-483883F1EA8A}">
      <dsp:nvSpPr>
        <dsp:cNvPr id="0" name=""/>
        <dsp:cNvSpPr/>
      </dsp:nvSpPr>
      <dsp:spPr>
        <a:xfrm>
          <a:off x="614" y="1712488"/>
          <a:ext cx="4832545" cy="33902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[ SHAP Analysis ]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"Looks at the whole picture"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- Base Risk:   2%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- Location   +30% 📍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- Amount   +40% 💰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- Age    -10% ⏳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Result: 62% Fraud Risk</a:t>
          </a:r>
        </a:p>
      </dsp:txBody>
      <dsp:txXfrm>
        <a:off x="614" y="1712488"/>
        <a:ext cx="4832545" cy="3390248"/>
      </dsp:txXfrm>
    </dsp:sp>
    <dsp:sp modelId="{72449BA7-64B9-4A63-9707-24198262E061}">
      <dsp:nvSpPr>
        <dsp:cNvPr id="0" name=""/>
        <dsp:cNvSpPr/>
      </dsp:nvSpPr>
      <dsp:spPr>
        <a:xfrm>
          <a:off x="5847995" y="1712488"/>
          <a:ext cx="5334502" cy="34142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[ LIME Analysis ]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"Looks at this specific moment“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- Creates fake similar transactions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- Changes amount, time, and device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- Sees which change drops the fraud alert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- Pinpoints the exact trigger for *this* case</a:t>
          </a:r>
        </a:p>
      </dsp:txBody>
      <dsp:txXfrm>
        <a:off x="5847995" y="1712488"/>
        <a:ext cx="5334502" cy="34142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AD8488-30C7-5C59-237C-5FA97CE371EA}"/>
              </a:ext>
            </a:extLst>
          </p:cNvPr>
          <p:cNvSpPr txBox="1"/>
          <p:nvPr/>
        </p:nvSpPr>
        <p:spPr>
          <a:xfrm>
            <a:off x="210312" y="735637"/>
            <a:ext cx="1127455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Explainability in AI</a:t>
            </a: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AI models often act like a "black box." </a:t>
            </a: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They take in data and spit out a decision, like labeling a transaction as </a:t>
            </a: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fraud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. </a:t>
            </a: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Google Sans"/>
            </a:endParaRP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endParaRPr lang="en-US" sz="2400" b="0" u="none" strike="noStrike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Google Sans"/>
            </a:endParaRP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endParaRPr lang="en-US" sz="2400" b="0" u="none" strike="noStrike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Google Sans"/>
            </a:endParaRP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Non-technical stakeholders and regulators need to know </a:t>
            </a:r>
            <a:r>
              <a:rPr lang="en-US" sz="2400" b="0" i="1" u="sng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why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 the model made that choice. </a:t>
            </a: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Explainability tells the exact features that drove the decision.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C2CCE64-EFF2-8788-85F6-263C7377C3E3}"/>
              </a:ext>
            </a:extLst>
          </p:cNvPr>
          <p:cNvSpPr/>
          <p:nvPr/>
        </p:nvSpPr>
        <p:spPr>
          <a:xfrm>
            <a:off x="3639312" y="2478024"/>
            <a:ext cx="2097025" cy="15773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Model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4B228A-D77C-17CE-A741-A25C80792825}"/>
              </a:ext>
            </a:extLst>
          </p:cNvPr>
          <p:cNvSpPr/>
          <p:nvPr/>
        </p:nvSpPr>
        <p:spPr>
          <a:xfrm>
            <a:off x="451104" y="2478024"/>
            <a:ext cx="2596896" cy="17647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Data:</a:t>
            </a:r>
          </a:p>
          <a:p>
            <a:pPr algn="ctr"/>
            <a:r>
              <a:rPr lang="en-US" dirty="0" err="1"/>
              <a:t>Trans_amt</a:t>
            </a:r>
            <a:r>
              <a:rPr lang="en-US" dirty="0"/>
              <a:t> = 100k</a:t>
            </a:r>
          </a:p>
          <a:p>
            <a:pPr algn="ctr"/>
            <a:r>
              <a:rPr lang="en-US" dirty="0" err="1"/>
              <a:t>Trans_time</a:t>
            </a:r>
            <a:r>
              <a:rPr lang="en-US" dirty="0"/>
              <a:t> = 1AM</a:t>
            </a:r>
          </a:p>
          <a:p>
            <a:pPr algn="ctr"/>
            <a:r>
              <a:rPr lang="en-US" dirty="0" err="1"/>
              <a:t>Device_used</a:t>
            </a:r>
            <a:r>
              <a:rPr lang="en-US" dirty="0"/>
              <a:t> = </a:t>
            </a:r>
            <a:r>
              <a:rPr lang="en-US" dirty="0" err="1"/>
              <a:t>Iphone</a:t>
            </a:r>
            <a:endParaRPr lang="en-US" dirty="0"/>
          </a:p>
          <a:p>
            <a:pPr algn="ctr"/>
            <a:r>
              <a:rPr lang="en-US" dirty="0"/>
              <a:t>Country=Kenya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ED5F740-0A93-6BCF-3A51-32866CFE47F5}"/>
              </a:ext>
            </a:extLst>
          </p:cNvPr>
          <p:cNvSpPr/>
          <p:nvPr/>
        </p:nvSpPr>
        <p:spPr>
          <a:xfrm>
            <a:off x="6586730" y="2852276"/>
            <a:ext cx="2596896" cy="6995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Fraud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A8CF6E7-3373-C8BF-7E5B-44ECD05AFDB6}"/>
              </a:ext>
            </a:extLst>
          </p:cNvPr>
          <p:cNvSpPr/>
          <p:nvPr/>
        </p:nvSpPr>
        <p:spPr>
          <a:xfrm>
            <a:off x="3172968" y="3108960"/>
            <a:ext cx="402336" cy="3200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36E6E975-D828-1EF1-771F-0ABDDB64F63C}"/>
              </a:ext>
            </a:extLst>
          </p:cNvPr>
          <p:cNvSpPr/>
          <p:nvPr/>
        </p:nvSpPr>
        <p:spPr>
          <a:xfrm>
            <a:off x="5960365" y="3031236"/>
            <a:ext cx="402336" cy="3200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8379AB-D6A4-4F07-5CE9-847588B8AA0B}"/>
              </a:ext>
            </a:extLst>
          </p:cNvPr>
          <p:cNvSpPr txBox="1"/>
          <p:nvPr/>
        </p:nvSpPr>
        <p:spPr>
          <a:xfrm>
            <a:off x="274320" y="808618"/>
            <a:ext cx="11128248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Example:</a:t>
            </a:r>
          </a:p>
          <a:p>
            <a:pPr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Why the Model Said "Fraud"</a:t>
            </a: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Imagine a bank loan application or a credit card transaction.</a:t>
            </a: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The AI does not use intuition. It calculates a risk score based on data points.</a:t>
            </a: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When a model flags a transaction as </a:t>
            </a: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fraud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, it means the combination of your data points crossed a risk threshold. </a:t>
            </a: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Explainability tools translate those mathematical calculations into human-readable factors.</a:t>
            </a: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D83A9D-48B5-3573-05B8-B567924C52A8}"/>
              </a:ext>
            </a:extLst>
          </p:cNvPr>
          <p:cNvSpPr txBox="1"/>
          <p:nvPr/>
        </p:nvSpPr>
        <p:spPr>
          <a:xfrm>
            <a:off x="1728216" y="299734"/>
            <a:ext cx="7680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 Transaction Details ] ---&gt; ( AI Model ) ---&gt; Decision: FRAUD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3845E04-3DD9-0567-654F-1A8C2AAB0A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0338127"/>
              </p:ext>
            </p:extLst>
          </p:nvPr>
        </p:nvGraphicFramePr>
        <p:xfrm>
          <a:off x="320040" y="719666"/>
          <a:ext cx="11183112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DC2BD-CB10-350C-3185-BE235F8E1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FC2D72-1E3A-A920-B172-530D7847B818}"/>
              </a:ext>
            </a:extLst>
          </p:cNvPr>
          <p:cNvSpPr txBox="1"/>
          <p:nvPr/>
        </p:nvSpPr>
        <p:spPr>
          <a:xfrm>
            <a:off x="310896" y="269507"/>
            <a:ext cx="1121054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SHAP (</a:t>
            </a:r>
            <a:r>
              <a:rPr lang="en-US" sz="2400" b="1" u="none" strike="noStrike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SHapley</a:t>
            </a: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 Additive Explanations)</a:t>
            </a:r>
          </a:p>
          <a:p>
            <a:pPr marL="285750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The Concept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: Treats every data feature as a player in a game. It calculates how much credit each player deserves for the final score.</a:t>
            </a:r>
          </a:p>
          <a:p>
            <a:pPr marL="285750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How it explains fraud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: It starts at a baseline average fraud risk. It then shows how each factor added to or subtracted from that baseline. </a:t>
            </a:r>
          </a:p>
          <a:p>
            <a:pPr marL="285750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The Output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: 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"The baseline fraud risk is 2%. 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The </a:t>
            </a: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unusual location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 added 30% to the risk. 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The </a:t>
            </a: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high dollar amount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 added 40%. 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The </a:t>
            </a: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customer's long account history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 subtracted 10%. 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Total risk: 62%." </a:t>
            </a:r>
          </a:p>
        </p:txBody>
      </p:sp>
    </p:spTree>
    <p:extLst>
      <p:ext uri="{BB962C8B-B14F-4D97-AF65-F5344CB8AC3E}">
        <p14:creationId xmlns:p14="http://schemas.microsoft.com/office/powerpoint/2010/main" val="3293074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7FE1C-AD6D-39A5-38C2-405F61E8D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5B2C2D-737E-7DB7-90B9-EA5064641262}"/>
              </a:ext>
            </a:extLst>
          </p:cNvPr>
          <p:cNvSpPr txBox="1"/>
          <p:nvPr/>
        </p:nvSpPr>
        <p:spPr>
          <a:xfrm>
            <a:off x="320040" y="232931"/>
            <a:ext cx="10963656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LIME (Local Interpretable Model-agnostic Explanations)</a:t>
            </a: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The Concept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: Zooms in on one specific decision. It builds a simple, temporary model around that single transaction to see what factors matter right now.</a:t>
            </a: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How it explains fraud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: It takes the flagged transaction and </a:t>
            </a:r>
            <a:r>
              <a:rPr lang="en-US" sz="2400" i="1" u="sng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creates hundreds of fake, slightly altered variations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 of it. It tests those variations to see what changes make the fraud alert disappear.</a:t>
            </a: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The Output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: 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"For this specific alert, if the transaction amount had been under ₹5,000 instead of ₹50,000, the model would </a:t>
            </a:r>
            <a:r>
              <a:rPr lang="en-US" sz="2400" b="0" i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not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 have flagged it as fraud. 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The </a:t>
            </a: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amount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 is the local trigger."</a:t>
            </a:r>
          </a:p>
        </p:txBody>
      </p:sp>
    </p:spTree>
    <p:extLst>
      <p:ext uri="{BB962C8B-B14F-4D97-AF65-F5344CB8AC3E}">
        <p14:creationId xmlns:p14="http://schemas.microsoft.com/office/powerpoint/2010/main" val="3309080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D8D7B-D546-5E9F-780C-41F94536E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86DA56-73B9-02A6-3FF6-76319B67FD4B}"/>
              </a:ext>
            </a:extLst>
          </p:cNvPr>
          <p:cNvSpPr txBox="1"/>
          <p:nvPr/>
        </p:nvSpPr>
        <p:spPr>
          <a:xfrm>
            <a:off x="265176" y="300224"/>
            <a:ext cx="11265408" cy="5347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Regulatory Compliance:</a:t>
            </a: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Explainability is no longer optional. It is a legal mandate under frameworks like the European Union AI Act.</a:t>
            </a: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Risk Categorization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: AI used for credit scoring, employment, or fraud detection is classified as </a:t>
            </a: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High-Risk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.</a:t>
            </a: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Right to Explanation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: Citizens have a legal right to clear, understandable explanations for automated decisions that impact them.</a:t>
            </a: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Traceability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: Organizations must log the technical reasons behind AI outputs to ensure accountability during audits.</a:t>
            </a: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Non-Compliance Penalties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: Failing to explain high-risk AI decisions can result in fines up to €35 million or 7% of global annual </a:t>
            </a:r>
            <a:r>
              <a:rPr lang="en-US" sz="24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turnover in EU.</a:t>
            </a:r>
            <a:endParaRPr lang="en-US" sz="2400" b="0" u="none" strike="noStrike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2098522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4340C-A203-1E75-D6E4-2784037AF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3935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1096</TotalTime>
  <Words>565</Words>
  <Application>Microsoft Office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180</cp:revision>
  <dcterms:created xsi:type="dcterms:W3CDTF">2025-09-22T02:44:38Z</dcterms:created>
  <dcterms:modified xsi:type="dcterms:W3CDTF">2026-05-27T20:00:25Z</dcterms:modified>
</cp:coreProperties>
</file>